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  <p:sldMasterId id="2147483743" r:id="rId3"/>
  </p:sldMasterIdLst>
  <p:notesMasterIdLst>
    <p:notesMasterId r:id="rId8"/>
  </p:notesMasterIdLst>
  <p:sldIdLst>
    <p:sldId id="2147483646" r:id="rId4"/>
    <p:sldId id="263" r:id="rId5"/>
    <p:sldId id="286" r:id="rId6"/>
    <p:sldId id="274" r:id="rId7"/>
    <p:sldId id="214748364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AF2F9-2357-43C9-A879-2E6A1C7E0ABE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BBA1B-B066-4F25-8FE7-D563CA448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3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D04D-8349-6F33-1760-43BCF16E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2DC68-6E36-8429-FFA3-EE3C567D9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D57D8-7654-C573-ED63-8D53F02E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5CB67-5F5F-10B2-F6E3-03BA856B5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8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790E-EC26-236E-FF29-449FA584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D1F4B-DED9-7AF7-F696-98D5F792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E79DE-A058-F21B-9833-CA75ECE35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Version 0 of knowledge executor agent</a:t>
            </a:r>
          </a:p>
          <a:p>
            <a:endParaRPr lang="en-US"/>
          </a:p>
          <a:p>
            <a:r>
              <a:rPr lang="en-US"/>
              <a:t>3 streams of discussions:</a:t>
            </a:r>
          </a:p>
          <a:p>
            <a:r>
              <a:rPr lang="en-US"/>
              <a:t>1 – </a:t>
            </a:r>
            <a:r>
              <a:rPr lang="en-US" err="1"/>
              <a:t>Gautum’s</a:t>
            </a:r>
            <a:r>
              <a:rPr lang="en-US"/>
              <a:t> team – NBA integration with troubleshooting</a:t>
            </a:r>
          </a:p>
          <a:p>
            <a:endParaRPr lang="en-US"/>
          </a:p>
          <a:p>
            <a:r>
              <a:rPr lang="en-US"/>
              <a:t>2 – </a:t>
            </a:r>
            <a:r>
              <a:rPr lang="en-US" err="1"/>
              <a:t>Sakshi’t</a:t>
            </a:r>
            <a:r>
              <a:rPr lang="en-US"/>
              <a:t> team / Chris Caroll</a:t>
            </a:r>
          </a:p>
          <a:p>
            <a:endParaRPr lang="en-US"/>
          </a:p>
          <a:p>
            <a:r>
              <a:rPr lang="en-US"/>
              <a:t>3 – VA team / Rich + King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2B075-19F3-F7BE-9A13-3DCAD3C77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FBBA1B-B066-4F25-8FE7-D563CA448A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83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eg"/><Relationship Id="rId3" Type="http://schemas.openxmlformats.org/officeDocument/2006/relationships/image" Target="../media/image6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6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7600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48104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7901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255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770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29010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24892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3480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5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744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74038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651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4532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3873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84834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064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352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068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8202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291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55936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8353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217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286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05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0664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4142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053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7575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223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2110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62073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6233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22718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23186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49624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915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723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99551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9845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16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5D75AE4-2570-96E1-CD6A-5C9BB2212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2927779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5D75AE4-2570-96E1-CD6A-5C9BB2212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04801"/>
            <a:ext cx="11430000" cy="44319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2745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528352"/>
            <a:ext cx="11657117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228600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638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953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3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592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3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277" indent="-28413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842" indent="-228570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26179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6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6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709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3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5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35" indent="0">
              <a:buNone/>
              <a:defRPr/>
            </a:lvl2pPr>
            <a:lvl3pPr marL="914273" indent="0">
              <a:buNone/>
              <a:defRPr/>
            </a:lvl3pPr>
            <a:lvl4pPr marL="1371408" indent="0">
              <a:buNone/>
              <a:defRPr/>
            </a:lvl4pPr>
            <a:lvl5pPr marL="1828546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5222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3" y="400055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70" indent="-228570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10" indent="-228570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49" indent="-152379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599976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11" indent="-228570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697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7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3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35766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90" y="800104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5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484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62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3599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4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5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7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7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70" indent="-228570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10" indent="-228570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599976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111" indent="-228570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35" indent="0" algn="ctr">
              <a:buNone/>
              <a:defRPr sz="2000"/>
            </a:lvl2pPr>
            <a:lvl3pPr marL="914273" indent="0" algn="ctr">
              <a:buNone/>
              <a:defRPr sz="1800"/>
            </a:lvl3pPr>
            <a:lvl4pPr marL="1371408" indent="0" algn="ctr">
              <a:buNone/>
              <a:defRPr sz="1600"/>
            </a:lvl4pPr>
            <a:lvl5pPr marL="1828546" indent="0" algn="ctr">
              <a:buNone/>
              <a:defRPr sz="1600"/>
            </a:lvl5pPr>
            <a:lvl6pPr marL="2285686" indent="0" algn="ctr">
              <a:buNone/>
              <a:defRPr sz="1600"/>
            </a:lvl6pPr>
            <a:lvl7pPr marL="2742818" indent="0" algn="ctr">
              <a:buNone/>
              <a:defRPr sz="1600"/>
            </a:lvl7pPr>
            <a:lvl8pPr marL="3199952" indent="0" algn="ctr">
              <a:buNone/>
              <a:defRPr sz="1600"/>
            </a:lvl8pPr>
            <a:lvl9pPr marL="36570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79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67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59" y="362515"/>
            <a:ext cx="10607040" cy="85344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5760" y="1706880"/>
            <a:ext cx="10565848" cy="4267200"/>
          </a:xfr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None/>
              <a:defRPr sz="1867">
                <a:solidFill>
                  <a:schemeClr val="bg2"/>
                </a:solidFill>
                <a:latin typeface="Museo Sans For Dell" pitchFamily="2" charset="0"/>
              </a:defRPr>
            </a:lvl1pPr>
            <a:lvl2pPr marL="763986" indent="-308979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6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2017493"/>
      </p:ext>
    </p:extLst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6266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1"/>
            <a:ext cx="5715000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5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4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59" indent="0">
              <a:buNone/>
              <a:defRPr/>
            </a:lvl2pPr>
            <a:lvl3pPr marL="914318" indent="0">
              <a:buNone/>
              <a:defRPr/>
            </a:lvl3pPr>
            <a:lvl4pPr marL="1371476" indent="0">
              <a:buNone/>
              <a:defRPr/>
            </a:lvl4pPr>
            <a:lvl5pPr marL="1828637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3450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3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90" y="857251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55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4" indent="0" algn="ctr">
              <a:buNone/>
              <a:defRPr sz="1600"/>
            </a:lvl4pPr>
            <a:lvl5pPr marL="1828618" indent="0" algn="ctr">
              <a:buNone/>
              <a:defRPr sz="1600"/>
            </a:lvl5pPr>
            <a:lvl6pPr marL="2285774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90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78" indent="-228578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34" indent="-22857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693" indent="-15238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40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195" indent="-228578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3374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3387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2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1230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2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33" indent="-284153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26" indent="-22858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7780377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4343401"/>
            <a:ext cx="8027895" cy="14957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2" y="349479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3325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2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81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71" indent="0">
              <a:buNone/>
              <a:defRPr/>
            </a:lvl2pPr>
            <a:lvl3pPr marL="914341" indent="0">
              <a:buNone/>
              <a:defRPr/>
            </a:lvl3pPr>
            <a:lvl4pPr marL="1371510" indent="0">
              <a:buNone/>
              <a:defRPr/>
            </a:lvl4pPr>
            <a:lvl5pPr marL="182868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6763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2" y="400054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86" indent="-228586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8" indent="-228586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9" indent="-152391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96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67" indent="-22858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56818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3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2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16547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6" y="800103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1" y="2228854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538C8-EC73-7F05-6338-C470E7FBF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394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8" y="3438305"/>
            <a:ext cx="9201151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98556" y="29146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0294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917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3829054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3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3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86" indent="-228586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58" indent="-228586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096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67" indent="-228586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3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71" indent="0" algn="ctr">
              <a:buNone/>
              <a:defRPr sz="2000"/>
            </a:lvl2pPr>
            <a:lvl3pPr marL="914341" indent="0" algn="ctr">
              <a:buNone/>
              <a:defRPr sz="1800"/>
            </a:lvl3pPr>
            <a:lvl4pPr marL="1371510" indent="0" algn="ctr">
              <a:buNone/>
              <a:defRPr sz="1600"/>
            </a:lvl4pPr>
            <a:lvl5pPr marL="1828682" indent="0" algn="ctr">
              <a:buNone/>
              <a:defRPr sz="1600"/>
            </a:lvl5pPr>
            <a:lvl6pPr marL="2285854" indent="0" algn="ctr">
              <a:buNone/>
              <a:defRPr sz="1600"/>
            </a:lvl6pPr>
            <a:lvl7pPr marL="2743022" indent="0" algn="ctr">
              <a:buNone/>
              <a:defRPr sz="1600"/>
            </a:lvl7pPr>
            <a:lvl8pPr marL="3200192" indent="0" algn="ctr">
              <a:buNone/>
              <a:defRPr sz="1600"/>
            </a:lvl8pPr>
            <a:lvl9pPr marL="365736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10639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381001" y="400054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1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31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38549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_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5508961"/>
      </p:ext>
    </p:extLst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1" y="4204927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ct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3" indent="0" algn="ctr">
              <a:buNone/>
              <a:defRPr sz="2000"/>
            </a:lvl2pPr>
            <a:lvl3pPr marL="914364" indent="0" algn="ctr">
              <a:buNone/>
              <a:defRPr sz="1800"/>
            </a:lvl3pPr>
            <a:lvl4pPr marL="1371544" indent="0" algn="ctr">
              <a:buNone/>
              <a:defRPr sz="1600"/>
            </a:lvl4pPr>
            <a:lvl5pPr marL="1828728" indent="0" algn="ctr">
              <a:buNone/>
              <a:defRPr sz="1600"/>
            </a:lvl5pPr>
            <a:lvl6pPr marL="2285910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" name="Draft">
            <a:extLst>
              <a:ext uri="{FF2B5EF4-FFF2-40B4-BE49-F238E27FC236}">
                <a16:creationId xmlns:a16="http://schemas.microsoft.com/office/drawing/2014/main" id="{7D2A01D4-2405-4B9C-AEAF-77C165A281D5}"/>
              </a:ext>
            </a:extLst>
          </p:cNvPr>
          <p:cNvSpPr txBox="1"/>
          <p:nvPr userDrawn="1"/>
        </p:nvSpPr>
        <p:spPr bwMode="gray">
          <a:xfrm>
            <a:off x="381001" y="5345921"/>
            <a:ext cx="884858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>
              <a:spcBef>
                <a:spcPts val="1200"/>
              </a:spcBef>
              <a:spcAft>
                <a:spcPct val="0"/>
              </a:spcAft>
              <a:buNone/>
            </a:pPr>
            <a:r>
              <a:rPr lang="en-US" sz="1600" b="1" kern="1200" cap="all" spc="300">
                <a:solidFill>
                  <a:srgbClr val="FFFFFF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69820174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ast Page Logo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3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9354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1"/>
            <a:ext cx="11430000" cy="443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79104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theme" Target="../theme/theme1.xml"/><Relationship Id="rId45" Type="http://schemas.openxmlformats.org/officeDocument/2006/relationships/tags" Target="../tags/tag1.xml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1.emf"/><Relationship Id="rId48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9.xml"/><Relationship Id="rId17" Type="http://schemas.openxmlformats.org/officeDocument/2006/relationships/theme" Target="../theme/theme2.xml"/><Relationship Id="rId18" Type="http://schemas.openxmlformats.org/officeDocument/2006/relationships/tags" Target="../tags/tag3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76.xml"/><Relationship Id="rId18" Type="http://schemas.openxmlformats.org/officeDocument/2006/relationships/theme" Target="../theme/theme3.xml"/><Relationship Id="rId19" Type="http://schemas.openxmlformats.org/officeDocument/2006/relationships/tags" Target="../tags/tag4.xml"/><Relationship Id="rId20" Type="http://schemas.openxmlformats.org/officeDocument/2006/relationships/oleObject" Target="../embeddings/oleObject4.bin"/><Relationship Id="rId21" Type="http://schemas.openxmlformats.org/officeDocument/2006/relationships/image" Target="../media/image1.emf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2C392E5-A875-932C-A03D-C8474BF963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215123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347" imgH="348" progId="TCLayout.ActiveDocument.1">
                  <p:embed/>
                </p:oleObj>
              </mc:Choice>
              <mc:Fallback>
                <p:oleObj name="think-cell Slide" r:id="rId46" imgW="347" imgH="34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2C392E5-A875-932C-A03D-C8474BF96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FC17FF-98F9-51EF-CD1F-084B4D5F046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815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61" r:id="rId43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1167177788"/>
              </p:ext>
            </p:extLst>
          </p:nvPr>
        </p:nvGraphicFramePr>
        <p:xfrm>
          <a:off x="1591" y="1591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47" imgH="348" progId="TCLayout.ActiveDocument.1">
                  <p:embed/>
                </p:oleObj>
              </mc:Choice>
              <mc:Fallback>
                <p:oleObj name="think-cell Slide" r:id="rId19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91" y="1591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70" y="6701009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03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5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CEBED-64CB-8A8F-D0A9-64BD1BA38ED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3414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8" r:id="rId14"/>
    <p:sldLayoutId id="2147483719" r:id="rId15"/>
    <p:sldLayoutId id="2147483720" r:id="rId16"/>
  </p:sldLayoutIdLst>
  <p:txStyles>
    <p:titleStyle>
      <a:lvl1pPr algn="l" defTabSz="91427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0" indent="-228570" algn="l" defTabSz="91427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0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76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11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49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84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2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62" indent="-228570" algn="l" defTabSz="91427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3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86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8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52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7" algn="l" defTabSz="91427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9349E1-EB20-2CE1-1CC6-91134B039919}"/>
              </a:ext>
            </a:extLst>
          </p:cNvPr>
          <p:cNvGraphicFramePr>
            <a:graphicFrameLocks noChangeAspect="1"/>
          </p:cNvGraphicFramePr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18317746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47" imgH="348" progId="TCLayout.ActiveDocument.1">
                  <p:embed/>
                </p:oleObj>
              </mc:Choice>
              <mc:Fallback>
                <p:oleObj name="think-cell Slide" r:id="rId20" imgW="347" imgH="34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9349E1-EB20-2CE1-1CC6-91134B0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/>
        </p:nvSpPr>
        <p:spPr>
          <a:xfrm>
            <a:off x="5381065" y="6701005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22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/>
        </p:nvSpPr>
        <p:spPr>
          <a:xfrm>
            <a:off x="5120250" y="6702031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82CC0-A7E5-A5E9-F5AA-3DA17AD67E1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9699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1605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l" defTabSz="91434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6" indent="-228586" algn="l" defTabSz="91434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6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37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06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78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0" indent="-228586" algn="l" defTabSz="91434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1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0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4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2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3" algn="l" defTabSz="91434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017EF34-CBF1-7C7E-2996-68AE8F2D01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10-30-2025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65DED1-89E4-CC69-BA32-3ED1D910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86211"/>
            <a:ext cx="7969282" cy="747897"/>
          </a:xfrm>
        </p:spPr>
        <p:txBody>
          <a:bodyPr/>
          <a:lstStyle/>
          <a:p>
            <a:r>
              <a:rPr lang="en-US"/>
              <a:t>DBIA Ops Agentic AI Pillar</a:t>
            </a:r>
          </a:p>
        </p:txBody>
      </p:sp>
    </p:spTree>
    <p:extLst>
      <p:ext uri="{BB962C8B-B14F-4D97-AF65-F5344CB8AC3E}">
        <p14:creationId xmlns:p14="http://schemas.microsoft.com/office/powerpoint/2010/main" val="301063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5F64-300E-1B2B-B920-F66ED4F2A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7B713A-9356-BABF-E38B-25F9D6168902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C78D19-AADF-6266-6E0C-F15D7963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37498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3F23-FB23-C52B-3F59-A4BE79F7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1FF49F0-32C8-0360-6E00-7CF2AD7F793F}"/>
              </a:ext>
            </a:extLst>
          </p:cNvPr>
          <p:cNvSpPr/>
          <p:nvPr/>
        </p:nvSpPr>
        <p:spPr>
          <a:xfrm>
            <a:off x="57150" y="6534150"/>
            <a:ext cx="1409700" cy="317497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772FB-8B38-88FF-F6EB-E344E478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0526"/>
            <a:ext cx="11430000" cy="443198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1122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53062-B224-72F3-E247-10CA081C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9478C-1420-66B4-FF94-A968D403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Solution – Initial Design (agentic state example)</a:t>
            </a:r>
          </a:p>
        </p:txBody>
      </p:sp>
    </p:spTree>
    <p:extLst>
      <p:ext uri="{BB962C8B-B14F-4D97-AF65-F5344CB8AC3E}">
        <p14:creationId xmlns:p14="http://schemas.microsoft.com/office/powerpoint/2010/main" val="4270211764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Visualization Dashboard1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2133600" y="2743200"/>
            <a:ext cx="1371600" cy="137160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Knowledge</a:t>
            </a:r>
          </a:p>
        </p:txBody>
      </p:sp>
      <p:sp>
        <p:nvSpPr>
          <p:cNvPr id="5" name="Oval 4"/>
          <p:cNvSpPr/>
          <p:nvPr/>
        </p:nvSpPr>
        <p:spPr>
          <a:xfrm>
            <a:off x="5638800" y="2743200"/>
            <a:ext cx="1371600" cy="137160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Personalization</a:t>
            </a:r>
          </a:p>
        </p:txBody>
      </p:sp>
      <p:sp>
        <p:nvSpPr>
          <p:cNvPr id="6" name="Oval 5"/>
          <p:cNvSpPr/>
          <p:nvPr/>
        </p:nvSpPr>
        <p:spPr>
          <a:xfrm>
            <a:off x="6724721" y="4702927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A1</a:t>
            </a:r>
          </a:p>
        </p:txBody>
      </p:sp>
      <p:sp>
        <p:nvSpPr>
          <p:cNvPr id="7" name="Oval 6"/>
          <p:cNvSpPr/>
          <p:nvPr/>
        </p:nvSpPr>
        <p:spPr>
          <a:xfrm>
            <a:off x="6120692" y="4914768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A2</a:t>
            </a:r>
          </a:p>
        </p:txBody>
      </p:sp>
      <p:sp>
        <p:nvSpPr>
          <p:cNvPr id="8" name="Oval 7"/>
          <p:cNvSpPr/>
          <p:nvPr/>
        </p:nvSpPr>
        <p:spPr>
          <a:xfrm>
            <a:off x="5369013" y="4891908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A3</a:t>
            </a:r>
          </a:p>
        </p:txBody>
      </p:sp>
      <p:sp>
        <p:nvSpPr>
          <p:cNvPr id="9" name="Oval 8"/>
          <p:cNvSpPr/>
          <p:nvPr/>
        </p:nvSpPr>
        <p:spPr>
          <a:xfrm>
            <a:off x="4635721" y="4538773"/>
            <a:ext cx="640080" cy="64008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A4</a:t>
            </a:r>
          </a:p>
        </p:txBody>
      </p:sp>
      <p:sp>
        <p:nvSpPr>
          <p:cNvPr id="10" name="Oval 9"/>
          <p:cNvSpPr/>
          <p:nvPr/>
        </p:nvSpPr>
        <p:spPr>
          <a:xfrm>
            <a:off x="77216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T1</a:t>
            </a:r>
          </a:p>
        </p:txBody>
      </p:sp>
      <p:sp>
        <p:nvSpPr>
          <p:cNvPr id="11" name="Oval 10"/>
          <p:cNvSpPr/>
          <p:nvPr/>
        </p:nvSpPr>
        <p:spPr>
          <a:xfrm>
            <a:off x="181864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T2</a:t>
            </a:r>
          </a:p>
        </p:txBody>
      </p:sp>
      <p:sp>
        <p:nvSpPr>
          <p:cNvPr id="12" name="Oval 11"/>
          <p:cNvSpPr/>
          <p:nvPr/>
        </p:nvSpPr>
        <p:spPr>
          <a:xfrm>
            <a:off x="286512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T3</a:t>
            </a:r>
          </a:p>
        </p:txBody>
      </p:sp>
      <p:sp>
        <p:nvSpPr>
          <p:cNvPr id="13" name="Oval 12"/>
          <p:cNvSpPr/>
          <p:nvPr/>
        </p:nvSpPr>
        <p:spPr>
          <a:xfrm>
            <a:off x="391160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T4</a:t>
            </a:r>
          </a:p>
        </p:txBody>
      </p:sp>
      <p:sp>
        <p:nvSpPr>
          <p:cNvPr id="14" name="Oval 13"/>
          <p:cNvSpPr/>
          <p:nvPr/>
        </p:nvSpPr>
        <p:spPr>
          <a:xfrm>
            <a:off x="495808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T5</a:t>
            </a:r>
          </a:p>
        </p:txBody>
      </p:sp>
      <p:sp>
        <p:nvSpPr>
          <p:cNvPr id="15" name="Oval 14"/>
          <p:cNvSpPr/>
          <p:nvPr/>
        </p:nvSpPr>
        <p:spPr>
          <a:xfrm>
            <a:off x="600456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T6</a:t>
            </a:r>
          </a:p>
        </p:txBody>
      </p:sp>
      <p:sp>
        <p:nvSpPr>
          <p:cNvPr id="16" name="Oval 15"/>
          <p:cNvSpPr/>
          <p:nvPr/>
        </p:nvSpPr>
        <p:spPr>
          <a:xfrm>
            <a:off x="705104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T7</a:t>
            </a:r>
          </a:p>
        </p:txBody>
      </p:sp>
      <p:sp>
        <p:nvSpPr>
          <p:cNvPr id="17" name="Oval 16"/>
          <p:cNvSpPr/>
          <p:nvPr/>
        </p:nvSpPr>
        <p:spPr>
          <a:xfrm>
            <a:off x="8097520" y="914400"/>
            <a:ext cx="274320" cy="274320"/>
          </a:xfrm>
          <a:prstGeom prst="ellipse">
            <a:avLst/>
          </a:prstGeom>
          <a:solidFill>
            <a:srgbClr val="6495ED"/>
          </a:solidFill>
          <a:ln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T8</a:t>
            </a:r>
          </a:p>
        </p:txBody>
      </p:sp>
      <p:sp>
        <p:nvSpPr>
          <p:cNvPr id="18" name="Oval 17"/>
          <p:cNvSpPr/>
          <p:nvPr/>
        </p:nvSpPr>
        <p:spPr>
          <a:xfrm>
            <a:off x="2019290" y="26288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76440" y="2686040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24490" y="26288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10411" y="4588617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67561" y="4645767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06382" y="4800458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63532" y="4857608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54703" y="4777598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11853" y="4834748"/>
            <a:ext cx="5715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1411" y="4424463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785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7850" y="857240"/>
            <a:ext cx="11430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0433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04330" y="857240"/>
            <a:ext cx="114300" cy="571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081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9729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4377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9025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3673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83210" y="800090"/>
            <a:ext cx="114300" cy="114300"/>
          </a:xfrm>
          <a:prstGeom prst="ellipse">
            <a:avLst/>
          </a:prstGeom>
          <a:noFill/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l FY24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42233C5C-70D2-4385-AFF2-9241B8009163}" vid="{6A18F8CD-386D-4FE7-8080-653445F76953}"/>
    </a:ext>
  </a:extLst>
</a:theme>
</file>

<file path=ppt/theme/theme2.xml><?xml version="1.0" encoding="utf-8"?>
<a:theme xmlns:a="http://schemas.openxmlformats.org/drawingml/2006/main" name="11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3.xml><?xml version="1.0" encoding="utf-8"?>
<a:theme xmlns:a="http://schemas.openxmlformats.org/drawingml/2006/main" name="6_Dell Technologies 2023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ll Technologies 2023" id="{5920E705-14AE-4F5A-A0B6-D9719AD25AFE}" vid="{1E7AFD6C-5292-488E-9037-D229A55A2FE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61</Words>
  <Application>Microsoft Office PowerPoint</Application>
  <PresentationFormat>Widescreen</PresentationFormat>
  <Paragraphs>17</Paragraphs>
  <Slides>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Museo Sans For Dell</vt:lpstr>
      <vt:lpstr>Aptos</vt:lpstr>
      <vt:lpstr>Arial</vt:lpstr>
      <vt:lpstr>Arial Nova Light</vt:lpstr>
      <vt:lpstr>Calibri</vt:lpstr>
      <vt:lpstr>Wingdings</vt:lpstr>
      <vt:lpstr>Dell FY24 Template</vt:lpstr>
      <vt:lpstr>11_Dell Technologies 2023</vt:lpstr>
      <vt:lpstr>6_Dell Technologies 2023</vt:lpstr>
      <vt:lpstr>think-cell Slide</vt:lpstr>
      <vt:lpstr>DBIA Ops Agentic AI Pillar</vt:lpstr>
      <vt:lpstr>…</vt:lpstr>
      <vt:lpstr>…</vt:lpstr>
      <vt:lpstr>Agentic Solution – Initial Design (agentic state example)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Chahid, Siham</dc:creator>
  <cp:lastModifiedBy>Harney, John</cp:lastModifiedBy>
  <cp:revision>5</cp:revision>
  <dcterms:created xsi:type="dcterms:W3CDTF">2025-06-11T21:16:47Z</dcterms:created>
  <dcterms:modified xsi:type="dcterms:W3CDTF">2026-01-30T18:17:22Z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dd1fcc-24d7-4f55-9dc2-c1518f171327_Enabled">
    <vt:lpwstr>true</vt:lpwstr>
  </property>
  <property fmtid="{D5CDD505-2E9C-101B-9397-08002B2CF9AE}" pid="3" name="MSIP_Label_73dd1fcc-24d7-4f55-9dc2-c1518f171327_SetDate">
    <vt:lpwstr>2025-06-11T21:18:35Z</vt:lpwstr>
  </property>
  <property fmtid="{D5CDD505-2E9C-101B-9397-08002B2CF9AE}" pid="4" name="MSIP_Label_73dd1fcc-24d7-4f55-9dc2-c1518f171327_Method">
    <vt:lpwstr>Privileged</vt:lpwstr>
  </property>
  <property fmtid="{D5CDD505-2E9C-101B-9397-08002B2CF9AE}" pid="5" name="MSIP_Label_73dd1fcc-24d7-4f55-9dc2-c1518f171327_Name">
    <vt:lpwstr>No Protection (Label Only) - Internal Use</vt:lpwstr>
  </property>
  <property fmtid="{D5CDD505-2E9C-101B-9397-08002B2CF9AE}" pid="6" name="MSIP_Label_73dd1fcc-24d7-4f55-9dc2-c1518f171327_SiteId">
    <vt:lpwstr>945c199a-83a2-4e80-9f8c-5a91be5752dd</vt:lpwstr>
  </property>
  <property fmtid="{D5CDD505-2E9C-101B-9397-08002B2CF9AE}" pid="7" name="MSIP_Label_73dd1fcc-24d7-4f55-9dc2-c1518f171327_ActionId">
    <vt:lpwstr>daf3ccf1-2f39-4c77-91c5-f44e71c769e5</vt:lpwstr>
  </property>
  <property fmtid="{D5CDD505-2E9C-101B-9397-08002B2CF9AE}" pid="8" name="MSIP_Label_73dd1fcc-24d7-4f55-9dc2-c1518f171327_ContentBits">
    <vt:lpwstr>2</vt:lpwstr>
  </property>
  <property fmtid="{D5CDD505-2E9C-101B-9397-08002B2CF9AE}" pid="9" name="MSIP_Label_73dd1fcc-24d7-4f55-9dc2-c1518f171327_Tag">
    <vt:lpwstr>10, 0, 1, 1</vt:lpwstr>
  </property>
  <property fmtid="{D5CDD505-2E9C-101B-9397-08002B2CF9AE}" pid="10" name="ClassificationContentMarkingFooterLocations">
    <vt:lpwstr>Dell FY24 Template:9\11_Dell Technologies 2023:4\2_Dell official:2\6_Dell Technologies 2023:3\1_Dell Tech template:4\1_Office Theme:2</vt:lpwstr>
  </property>
  <property fmtid="{D5CDD505-2E9C-101B-9397-08002B2CF9AE}" pid="11" name="ClassificationContentMarkingFooterText">
    <vt:lpwstr>Internal Use - Confidential</vt:lpwstr>
  </property>
</Properties>
</file>